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10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8046720" cy="73152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A9"/>
                </a:solidFill>
                <a:latin typeface="Calibri"/>
              </a:rPr>
              <a:t>GOOGLE SOLUTION CHALLENGE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7772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AnchalAI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D4CC"/>
                </a:solidFill>
                <a:latin typeface="Calibri"/>
              </a:rPr>
              <a:t>Maternal Care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4F3"/>
                </a:solidFill>
                <a:latin typeface="Calibri"/>
              </a:rPr>
              <a:t>Smart Resource Allocation — Data-Driven
Volunteer Coordination for Social 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2377440" cy="1280160"/>
          </a:xfrm>
          <a:prstGeom prst="rect">
            <a:avLst/>
          </a:prstGeom>
          <a:solidFill>
            <a:srgbClr val="132A56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244"/>
                </a:solidFill>
                <a:latin typeface="Calibri"/>
              </a:rPr>
              <a:t>24,000+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C5C3"/>
                </a:solidFill>
                <a:latin typeface="Calibri"/>
              </a:rPr>
              <a:t>maternal deaths/year
in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4114800"/>
            <a:ext cx="2377440" cy="1280160"/>
          </a:xfrm>
          <a:prstGeom prst="rect">
            <a:avLst/>
          </a:prstGeom>
          <a:solidFill>
            <a:srgbClr val="132A56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244"/>
                </a:solidFill>
                <a:latin typeface="Calibri"/>
              </a:rPr>
              <a:t>MLx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C5C3"/>
                </a:solidFill>
                <a:latin typeface="Calibri"/>
              </a:rPr>
              <a:t>dropout prediction
+ vernacular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114800"/>
            <a:ext cx="2377440" cy="1280160"/>
          </a:xfrm>
          <a:prstGeom prst="rect">
            <a:avLst/>
          </a:prstGeom>
          <a:solidFill>
            <a:srgbClr val="132A56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41605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244"/>
                </a:solidFill>
                <a:latin typeface="Calibri"/>
              </a:rPr>
              <a:t>End-to-End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C5C3"/>
                </a:solidFill>
                <a:latin typeface="Calibri"/>
              </a:rPr>
              <a:t>ADK multi-agent
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3716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latin typeface="Calibri"/>
              </a:rPr>
              <a:t>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4206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BC5C3"/>
                </a:solidFill>
                <a:latin typeface="Calibri"/>
              </a:rPr>
              <a:t>Protecting every mother.
Empowering every ASHA.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Meet the AnchalAI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solidFill>
            <a:srgbClr val="132A56"/>
          </a:solidFill>
          <a:ln w="254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98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A9"/>
                </a:solidFill>
                <a:latin typeface="Calibri"/>
              </a:rPr>
              <a:t>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AnchalAI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D4CC"/>
                </a:solidFill>
                <a:latin typeface="Calibri"/>
              </a:rPr>
              <a:t>Google Solution Challenge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5303520" cy="182880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44"/>
                </a:solidFill>
                <a:latin typeface="Calibri"/>
              </a:rPr>
              <a:t>👑  Team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Hannan Ali Mallick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5C3"/>
                </a:solidFill>
                <a:latin typeface="Calibri"/>
              </a:rPr>
              <a:t>GitHub: mrmallick07
https://github.com/mrmallick07/AnchalAI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5212080" cy="1828800"/>
          </a:xfrm>
          <a:prstGeom prst="rect">
            <a:avLst/>
          </a:prstGeom>
          <a:solidFill>
            <a:srgbClr val="132A56"/>
          </a:solidFill>
          <a:ln w="19050">
            <a:solidFill>
              <a:srgbClr val="FF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6334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E4E"/>
                </a:solidFill>
                <a:latin typeface="Calibri"/>
              </a:rPr>
              <a:t>🎯  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Smart Resource Allocation —
Data-Driven Volunteer Coordination
for Social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11064240" cy="868680"/>
          </a:xfrm>
          <a:prstGeom prst="rect">
            <a:avLst/>
          </a:prstGeom>
          <a:solidFill>
            <a:srgbClr val="08143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365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CC"/>
                </a:solidFill>
                <a:latin typeface="Calibri"/>
              </a:rPr>
              <a:t>🌍  SDG 3 — Good Health and Well-Being  |  Focus: Maternal mortality reduction in rural India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Solution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What AnchalAI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577840" cy="5257800"/>
          </a:xfrm>
          <a:prstGeom prst="rect">
            <a:avLst/>
          </a:prstGeom>
          <a:solidFill>
            <a:srgbClr val="132A56"/>
          </a:solidFill>
          <a:ln w="19050">
            <a:solidFill>
              <a:srgbClr val="FF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E4E"/>
                </a:solidFill>
                <a:latin typeface="Calibri"/>
              </a:rPr>
              <a:t>⚠️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India loses 24,000+ mothers annually to preventable complications.</a:t>
            </a:r>
          </a:p>
          <a:p>
            <a:pPr algn="l"/>
            <a:r>
              <a:rPr sz="1250" b="0"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9BC5C3"/>
                </a:solidFill>
                <a:latin typeface="Calibri"/>
              </a:rPr>
              <a:t>ASHA workers — the last-mile healthcare volunteers — are overwhelmed:</a:t>
            </a:r>
          </a:p>
          <a:p>
            <a:pPr algn="l"/>
            <a:r>
              <a:rPr sz="1250" b="0"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E8F4F3"/>
                </a:solidFill>
                <a:latin typeface="Calibri"/>
              </a:rPr>
              <a:t>•  No tool to prioritize outreach from scattered field data</a:t>
            </a:r>
          </a:p>
          <a:p>
            <a:pPr algn="l"/>
            <a:r>
              <a:rPr sz="1250" b="0">
                <a:solidFill>
                  <a:srgbClr val="E8F4F3"/>
                </a:solidFill>
                <a:latin typeface="Calibri"/>
              </a:rPr>
              <a:t>•  No early warning for antenatal dropout risk</a:t>
            </a:r>
          </a:p>
          <a:p>
            <a:pPr algn="l"/>
            <a:r>
              <a:rPr sz="1250" b="0">
                <a:solidFill>
                  <a:srgbClr val="E8F4F3"/>
                </a:solidFill>
                <a:latin typeface="Calibri"/>
              </a:rPr>
              <a:t>•  Rely on manual registers and memory</a:t>
            </a:r>
          </a:p>
          <a:p>
            <a:pPr algn="l"/>
            <a:r>
              <a:rPr sz="1250" b="0">
                <a:solidFill>
                  <a:srgbClr val="E8F4F3"/>
                </a:solidFill>
                <a:latin typeface="Calibri"/>
              </a:rPr>
              <a:t>•  Language barriers in multilingual communities</a:t>
            </a:r>
          </a:p>
          <a:p>
            <a:pPr algn="l"/>
            <a:r>
              <a:rPr sz="1250" b="0">
                <a:latin typeface="Calibri"/>
              </a:rPr>
              <a:t/>
            </a:r>
          </a:p>
          <a:p>
            <a:pPr algn="l"/>
            <a:r>
              <a:rPr sz="1250" b="1">
                <a:solidFill>
                  <a:srgbClr val="FFC244"/>
                </a:solidFill>
                <a:latin typeface="Calibri"/>
              </a:rPr>
              <a:t>The result: high-risk pregnant women are missed until it's too 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577840" cy="525780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70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8A9"/>
                </a:solidFill>
                <a:latin typeface="Calibri"/>
              </a:rPr>
              <a:t>✅  The Solution: AnchalAI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64208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AnchalAI predicts which pregnant women are at highest risk of dropping out of antenatal care.</a:t>
            </a:r>
          </a:p>
          <a:p>
            <a:pPr algn="l"/>
            <a:r>
              <a:rPr sz="1200" b="0"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00D4CC"/>
                </a:solidFill>
                <a:latin typeface="Calibri"/>
              </a:rPr>
              <a:t>🤖  ML Dropout Prediction</a:t>
            </a:r>
          </a:p>
          <a:p>
            <a:pPr algn="l"/>
            <a:r>
              <a:rPr sz="1200" b="0">
                <a:solidFill>
                  <a:srgbClr val="E8F4F3"/>
                </a:solidFill>
                <a:latin typeface="Calibri"/>
              </a:rPr>
              <a:t>Trained Random Forest model on RCH registration data to score each woman by dropout probability.</a:t>
            </a:r>
          </a:p>
          <a:p>
            <a:pPr algn="l"/>
            <a:r>
              <a:rPr sz="1200" b="0"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00D4CC"/>
                </a:solidFill>
                <a:latin typeface="Calibri"/>
              </a:rPr>
              <a:t>🗣  Gemini Vernacular Messaging</a:t>
            </a:r>
          </a:p>
          <a:p>
            <a:pPr algn="l"/>
            <a:r>
              <a:rPr sz="1200" b="0">
                <a:solidFill>
                  <a:srgbClr val="E8F4F3"/>
                </a:solidFill>
                <a:latin typeface="Calibri"/>
              </a:rPr>
              <a:t>Google Gemini generates personalized outreach messages in Bengali, Hindi, and English — tailored to risk factors.</a:t>
            </a:r>
          </a:p>
          <a:p>
            <a:pPr algn="l"/>
            <a:r>
              <a:rPr sz="1200" b="0">
                <a:latin typeface="Calibri"/>
              </a:rPr>
              <a:t/>
            </a:r>
          </a:p>
          <a:p>
            <a:pPr algn="l"/>
            <a:r>
              <a:rPr sz="1200" b="1">
                <a:solidFill>
                  <a:srgbClr val="00D4CC"/>
                </a:solidFill>
                <a:latin typeface="Calibri"/>
              </a:rPr>
              <a:t>🤝  ADK Multi-Agent Pipeline</a:t>
            </a:r>
          </a:p>
          <a:p>
            <a:pPr algn="l"/>
            <a:r>
              <a:rPr sz="1200" b="0">
                <a:solidFill>
                  <a:srgbClr val="E8F4F3"/>
                </a:solidFill>
                <a:latin typeface="Calibri"/>
              </a:rPr>
              <a:t>RiskAnalystAgent → CommunicationAgent → EscalationAgent pipeline turns registration data into coordinated community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Opportunities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Why AnchalAI stands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49039" cy="5257800"/>
          </a:xfrm>
          <a:prstGeom prst="rect">
            <a:avLst/>
          </a:prstGeom>
          <a:solidFill>
            <a:srgbClr val="132A56"/>
          </a:solidFill>
          <a:ln w="2540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44"/>
                </a:solidFill>
                <a:latin typeface="Calibri"/>
              </a:rPr>
              <a:t>🏆  Uniqueness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Only tool combining ML risk prediction with vernacular AI outreach specifically for ASHA community health volunteers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Bridges the gap between raw RCH registration data and actionable field intervention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Designed for low-digital-literacy users in multilingual rural India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Deployable with zero hardware — runs entirely on smartphones via GitHub Pages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749039" cy="5257800"/>
          </a:xfrm>
          <a:prstGeom prst="rect">
            <a:avLst/>
          </a:prstGeom>
          <a:solidFill>
            <a:srgbClr val="132A56"/>
          </a:solidFill>
          <a:ln w="254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70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💡  Solution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Converts scattered, incomplete registration data into a ranked priority list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Removes guesswork — ASHA workers see exactly who needs contact first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Gemini AI drafts the message so the ASHA worker doesn't need to compose it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Escalation agent flags life-threatening cases for immediate supervisor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749039" cy="5257800"/>
          </a:xfrm>
          <a:prstGeom prst="rect">
            <a:avLst/>
          </a:prstGeom>
          <a:solidFill>
            <a:srgbClr val="132A56"/>
          </a:solidFill>
          <a:ln w="254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1704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CC"/>
                </a:solidFill>
                <a:latin typeface="Calibri"/>
              </a:rPr>
              <a:t>⭐  USP — Technical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9164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End-to-end ADK multi-agent pipeline on Cloud Run with Vertex AI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Two independent Cloud Run services: Flask API + Agent API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Session state management across agents for coherent decision-making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Random Forest model with clinically-informed feature engineering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GitHub Pages frontend — zero hosting cost for the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AnchalAI capabilities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49039" cy="237744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ML Dropout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0136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F4F3"/>
                </a:solidFill>
                <a:latin typeface="Calibri"/>
              </a:rPr>
              <a:t>Random Forest model trained on RCH data predicts each patient's probability of dropping out of antenatal 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749039" cy="237744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Real-Time ASHA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0136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F4F3"/>
                </a:solidFill>
                <a:latin typeface="Calibri"/>
              </a:rPr>
              <a:t>GitHub Pages dashboard shows live risk scores, priority list, and outreach history — no app install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3749039" cy="237744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34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280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Gemini Vernacular Messaging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01368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F4F3"/>
                </a:solidFill>
                <a:latin typeface="Calibri"/>
              </a:rPr>
              <a:t>Google Gemini generates personalized outreach scripts in Bengali, Hindi, and English based on specific risk factors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3749039" cy="237744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404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861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ADK Multi-Agent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07407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F4F3"/>
                </a:solidFill>
                <a:latin typeface="Calibri"/>
              </a:rPr>
              <a:t>RiskAnalystAgent → CommunicationAgent → EscalationAgent: a full coordinated intelligence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749039"/>
            <a:ext cx="3749039" cy="237744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8404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8861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Escalation Decision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407407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F4F3"/>
                </a:solidFill>
                <a:latin typeface="Calibri"/>
              </a:rPr>
              <a:t>EscalationAgent auto-identifies critical cases and notifies supervisors — prevents deaths from being overlooked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49039"/>
            <a:ext cx="3749039" cy="237744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404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☁️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38861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Fully Cloud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407407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8F4F3"/>
                </a:solidFill>
                <a:latin typeface="Calibri"/>
              </a:rPr>
              <a:t>Two Cloud Run services, Vertex AI, GitHub Pages — production-ready, scalable, and pay-as-you-go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From registration to intervention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Pregnant Woman
Registers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Patient enrolled
in RCH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737360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013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RCH Data
Ingested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231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Registration data
pulled into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37360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013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AnchalAI
Prediction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231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Random Forest
scores dropout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3774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234440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737360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80136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Risk Score
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42316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High / Medium /
Low classification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49039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51959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315967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ASHA Dashboard
Updated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93775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Worker sees ranked
priority 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4892039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3749039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4251959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4315967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Gemini Message
Generated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493775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Vernacular outreach
message created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892039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749039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251959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4315967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ASHA Contacts
Woman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93775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Call / visit made
with AI-drafted script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892039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3749039"/>
            <a:ext cx="457200" cy="4572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3E"/>
                </a:solidFill>
                <a:latin typeface="Calibri"/>
              </a:rPr>
              <a:t>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06840" y="4251959"/>
            <a:ext cx="2606040" cy="1463040"/>
          </a:xfrm>
          <a:prstGeom prst="rect">
            <a:avLst/>
          </a:prstGeom>
          <a:solidFill>
            <a:srgbClr val="132A56"/>
          </a:solidFill>
          <a:ln w="1524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4315967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Follow-up
Logged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4937759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C5C3"/>
                </a:solidFill>
                <a:latin typeface="Calibri"/>
              </a:rPr>
              <a:t>Outcome recorded,
model updated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Dashboard Wireframes &amp; UI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AnchalAI MVP — Live at GitHub Pages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pic>
        <p:nvPicPr>
          <p:cNvPr id="7" name="Picture 6" descr="anchalai_dashboard_1773865944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3840480" cy="2377440"/>
          </a:xfrm>
          <a:prstGeom prst="rect">
            <a:avLst/>
          </a:prstGeom>
        </p:spPr>
      </p:pic>
      <p:pic>
        <p:nvPicPr>
          <p:cNvPr id="8" name="Picture 7" descr="anchalai_outreach_list_17738659545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57600"/>
            <a:ext cx="3840480" cy="2377440"/>
          </a:xfrm>
          <a:prstGeom prst="rect">
            <a:avLst/>
          </a:prstGeom>
        </p:spPr>
      </p:pic>
      <p:pic>
        <p:nvPicPr>
          <p:cNvPr id="9" name="Picture 8" descr="anchalai_modal_bengali_17738659931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097280"/>
            <a:ext cx="3840480" cy="2377440"/>
          </a:xfrm>
          <a:prstGeom prst="rect">
            <a:avLst/>
          </a:prstGeom>
        </p:spPr>
      </p:pic>
      <p:pic>
        <p:nvPicPr>
          <p:cNvPr id="10" name="Picture 9" descr="anchalai_modal_english_17738660199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657600"/>
            <a:ext cx="3840480" cy="23774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321040" y="1097280"/>
            <a:ext cx="3566160" cy="493776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1704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UI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664208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CC"/>
                </a:solidFill>
                <a:latin typeface="Calibri"/>
              </a:rPr>
              <a:t>📂 Sidebar Navigation</a:t>
            </a:r>
          </a:p>
          <a:p>
            <a:pPr algn="l"/>
            <a:r>
              <a:rPr sz="1100" b="0">
                <a:solidFill>
                  <a:srgbClr val="9BC5C3"/>
                </a:solidFill>
                <a:latin typeface="Calibri"/>
              </a:rPr>
              <a:t>All Patients · Outreach Log · Analytics · History</a:t>
            </a:r>
          </a:p>
          <a:p>
            <a:pPr algn="l"/>
            <a:r>
              <a:rPr sz="1100" b="0"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00D4CC"/>
                </a:solidFill>
                <a:latin typeface="Calibri"/>
              </a:rPr>
              <a:t>📊 Stats Bar</a:t>
            </a:r>
          </a:p>
          <a:p>
            <a:pPr algn="l"/>
            <a:r>
              <a:rPr sz="1100" b="0">
                <a:solidFill>
                  <a:srgbClr val="9BC5C3"/>
                </a:solidFill>
                <a:latin typeface="Calibri"/>
              </a:rPr>
              <a:t>High / Medium / Low risk patient counts at a glance</a:t>
            </a:r>
          </a:p>
          <a:p>
            <a:pPr algn="l"/>
            <a:r>
              <a:rPr sz="1100" b="0"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00D4CC"/>
                </a:solidFill>
                <a:latin typeface="Calibri"/>
              </a:rPr>
              <a:t>📋 Priority List</a:t>
            </a:r>
          </a:p>
          <a:p>
            <a:pPr algn="l"/>
            <a:r>
              <a:rPr sz="1100" b="0">
                <a:solidFill>
                  <a:srgbClr val="9BC5C3"/>
                </a:solidFill>
                <a:latin typeface="Calibri"/>
              </a:rPr>
              <a:t>Women ranked by dropout risk %; key risk factor labels</a:t>
            </a:r>
          </a:p>
          <a:p>
            <a:pPr algn="l"/>
            <a:r>
              <a:rPr sz="1100" b="0"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00D4CC"/>
                </a:solidFill>
                <a:latin typeface="Calibri"/>
              </a:rPr>
              <a:t>💬 Gemini Modal</a:t>
            </a:r>
          </a:p>
          <a:p>
            <a:pPr algn="l"/>
            <a:r>
              <a:rPr sz="1100" b="0">
                <a:solidFill>
                  <a:srgbClr val="9BC5C3"/>
                </a:solidFill>
                <a:latin typeface="Calibri"/>
              </a:rPr>
              <a:t>AI message in Bengali / Hindi / English per patient</a:t>
            </a:r>
          </a:p>
          <a:p>
            <a:pPr algn="l"/>
            <a:r>
              <a:rPr sz="1100" b="0"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00D4CC"/>
                </a:solidFill>
                <a:latin typeface="Calibri"/>
              </a:rPr>
              <a:t>🚨 Risk Filter</a:t>
            </a:r>
          </a:p>
          <a:p>
            <a:pPr algn="l"/>
            <a:r>
              <a:rPr sz="1100" b="0">
                <a:solidFill>
                  <a:srgbClr val="9BC5C3"/>
                </a:solidFill>
                <a:latin typeface="Calibri"/>
              </a:rPr>
              <a:t>One-click filter: High Risk only view for rapid triage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End-to-end technical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468880" cy="685800"/>
          </a:xfrm>
          <a:prstGeom prst="rect">
            <a:avLst/>
          </a:prstGeom>
          <a:solidFill>
            <a:srgbClr val="132A56"/>
          </a:solidFill>
          <a:ln w="2286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15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44"/>
                </a:solidFill>
                <a:latin typeface="Calibri"/>
              </a:rPr>
              <a:t>👩‍⚕️  ASHA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005840"/>
            <a:ext cx="2468880" cy="685800"/>
          </a:xfrm>
          <a:prstGeom prst="rect">
            <a:avLst/>
          </a:prstGeom>
          <a:solidFill>
            <a:srgbClr val="132A56"/>
          </a:solidFill>
          <a:ln w="2286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115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A9"/>
                </a:solidFill>
                <a:latin typeface="Calibri"/>
              </a:rPr>
              <a:t>🌐  GitHub Pages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005840"/>
            <a:ext cx="2468880" cy="685800"/>
          </a:xfrm>
          <a:prstGeom prst="rect">
            <a:avLst/>
          </a:prstGeom>
          <a:solidFill>
            <a:srgbClr val="132A56"/>
          </a:solidFill>
          <a:ln w="2286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115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A9"/>
                </a:solidFill>
                <a:latin typeface="Calibri"/>
              </a:rPr>
              <a:t>⚙️  Flask API  (Cloud Run #1)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005840"/>
            <a:ext cx="2468880" cy="685800"/>
          </a:xfrm>
          <a:prstGeom prst="rect">
            <a:avLst/>
          </a:prstGeom>
          <a:solidFill>
            <a:srgbClr val="132A56"/>
          </a:solidFill>
          <a:ln w="2286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1155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CC"/>
                </a:solidFill>
                <a:latin typeface="Calibri"/>
              </a:rPr>
              <a:t>🧠  ML Model  (Random Forest)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54864" cy="12344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8A9"/>
                </a:solidFill>
                <a:latin typeface="Calibri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97480"/>
            <a:ext cx="11247120" cy="384048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43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A9"/>
                </a:solidFill>
                <a:latin typeface="Calibri"/>
              </a:rPr>
              <a:t>ADK Multi-Agent Pipeline  (Cloud Run Service #2)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3291840" cy="658368"/>
          </a:xfrm>
          <a:prstGeom prst="rect">
            <a:avLst/>
          </a:prstGeom>
          <a:solidFill>
            <a:srgbClr val="132A56"/>
          </a:solidFill>
          <a:ln w="1905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41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44"/>
                </a:solidFill>
                <a:latin typeface="Calibri"/>
              </a:rPr>
              <a:t>🔎  RiskAnalystAgent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931920"/>
            <a:ext cx="3291840" cy="658368"/>
          </a:xfrm>
          <a:prstGeom prst="rect">
            <a:avLst/>
          </a:prstGeom>
          <a:solidFill>
            <a:srgbClr val="132A56"/>
          </a:solidFill>
          <a:ln w="1905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4041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44"/>
                </a:solidFill>
                <a:latin typeface="Calibri"/>
              </a:rPr>
              <a:t>✉️   CommunicationAgent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3931920"/>
            <a:ext cx="3291840" cy="658368"/>
          </a:xfrm>
          <a:prstGeom prst="rect">
            <a:avLst/>
          </a:prstGeom>
          <a:solidFill>
            <a:srgbClr val="132A56"/>
          </a:solidFill>
          <a:ln w="1905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40416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244"/>
                </a:solidFill>
                <a:latin typeface="Calibri"/>
              </a:rPr>
              <a:t>🚨  EscalationAgent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937760"/>
            <a:ext cx="3291840" cy="658368"/>
          </a:xfrm>
          <a:prstGeom prst="rect">
            <a:avLst/>
          </a:prstGeom>
          <a:solidFill>
            <a:srgbClr val="132A56"/>
          </a:solidFill>
          <a:ln w="1905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50474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CC"/>
                </a:solidFill>
                <a:latin typeface="Calibri"/>
              </a:rPr>
              <a:t>🌟  Vertex AI Gemini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4937760"/>
            <a:ext cx="3291840" cy="658368"/>
          </a:xfrm>
          <a:prstGeom prst="rect">
            <a:avLst/>
          </a:prstGeom>
          <a:solidFill>
            <a:srgbClr val="132A5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50474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💬  Response to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2245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2245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8A9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617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BC5C3"/>
                </a:solidFill>
                <a:latin typeface="Calibri"/>
              </a:rPr>
              <a:t>↑ Gemini API 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Google-first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5577840" cy="5394960"/>
          </a:xfrm>
          <a:prstGeom prst="rect">
            <a:avLst/>
          </a:prstGeom>
          <a:solidFill>
            <a:srgbClr val="132A56"/>
          </a:solidFill>
          <a:ln w="1905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8A9"/>
                </a:solidFill>
                <a:latin typeface="Calibri"/>
              </a:rPr>
              <a:t>🌐  Google Cloud Technologies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5303520" cy="1024128"/>
          </a:xfrm>
          <a:prstGeom prst="rect">
            <a:avLst/>
          </a:prstGeom>
          <a:solidFill>
            <a:srgbClr val="081430"/>
          </a:solidFill>
          <a:ln w="127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CC"/>
                </a:solidFill>
                <a:latin typeface="Calibri"/>
              </a:rPr>
              <a:t>Google Gemini (Vertex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3"/>
                </a:solidFill>
                <a:latin typeface="Calibri"/>
              </a:rPr>
              <a:t>Natural language generation for vernacular outreach messages in Bengali, Hindi, English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9776"/>
            <a:ext cx="5303520" cy="1024128"/>
          </a:xfrm>
          <a:prstGeom prst="rect">
            <a:avLst/>
          </a:prstGeom>
          <a:solidFill>
            <a:srgbClr val="081430"/>
          </a:solidFill>
          <a:ln w="127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5292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CC"/>
                </a:solidFill>
                <a:latin typeface="Calibri"/>
              </a:rPr>
              <a:t>Google ADK (Multi-Agent)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186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3"/>
                </a:solidFill>
                <a:latin typeface="Calibri"/>
              </a:rPr>
              <a:t>RiskAnalystAgent, CommunicationAgent, EscalationAgent orchestration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95344"/>
            <a:ext cx="5303520" cy="1024128"/>
          </a:xfrm>
          <a:prstGeom prst="rect">
            <a:avLst/>
          </a:prstGeom>
          <a:solidFill>
            <a:srgbClr val="081430"/>
          </a:solidFill>
          <a:ln w="127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6849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CC"/>
                </a:solidFill>
                <a:latin typeface="Calibri"/>
              </a:rPr>
              <a:t>Google Cloud Run (×2)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342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3"/>
                </a:solidFill>
                <a:latin typeface="Calibri"/>
              </a:rPr>
              <a:t>Flask API + Agent pipeline — serverless, containerized, auto-scaling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10912"/>
            <a:ext cx="5303520" cy="1024128"/>
          </a:xfrm>
          <a:prstGeom prst="rect">
            <a:avLst/>
          </a:prstGeom>
          <a:solidFill>
            <a:srgbClr val="081430"/>
          </a:solidFill>
          <a:ln w="127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8406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CC"/>
                </a:solidFill>
                <a:latin typeface="Calibri"/>
              </a:rPr>
              <a:t>Vertex AI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498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3"/>
                </a:solidFill>
                <a:latin typeface="Calibri"/>
              </a:rPr>
              <a:t>Hosts Gemini inference, scalable ML serving infrastructure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078992"/>
            <a:ext cx="5577840" cy="5394960"/>
          </a:xfrm>
          <a:prstGeom prst="rect">
            <a:avLst/>
          </a:prstGeom>
          <a:solidFill>
            <a:srgbClr val="132A56"/>
          </a:solidFill>
          <a:ln w="1905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1521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CC"/>
                </a:solidFill>
                <a:latin typeface="Calibri"/>
              </a:rPr>
              <a:t>🛠  Open Source &amp; Supporting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664208"/>
            <a:ext cx="5303520" cy="804672"/>
          </a:xfrm>
          <a:prstGeom prst="rect">
            <a:avLst/>
          </a:prstGeom>
          <a:solidFill>
            <a:srgbClr val="08143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737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A9"/>
                </a:solidFill>
                <a:latin typeface="Calibri"/>
              </a:rPr>
              <a:t>Python Flask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66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  <a:latin typeface="Calibri"/>
              </a:rPr>
              <a:t>REST API backend serving predictions and Gemini responses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2532888"/>
            <a:ext cx="5303520" cy="804672"/>
          </a:xfrm>
          <a:prstGeom prst="rect">
            <a:avLst/>
          </a:prstGeom>
          <a:solidFill>
            <a:srgbClr val="08143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06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A9"/>
                </a:solidFill>
                <a:latin typeface="Calibri"/>
              </a:rPr>
              <a:t>scikit-learn / 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352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  <a:latin typeface="Calibri"/>
              </a:rPr>
              <a:t>ML model for dropout probability scoring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401568"/>
            <a:ext cx="5303520" cy="804672"/>
          </a:xfrm>
          <a:prstGeom prst="rect">
            <a:avLst/>
          </a:prstGeom>
          <a:solidFill>
            <a:srgbClr val="08143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A9"/>
                </a:solidFill>
                <a:latin typeface="Calibri"/>
              </a:rPr>
              <a:t>FastAPI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039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  <a:latin typeface="Calibri"/>
              </a:rPr>
              <a:t>Agent API service framework for ADK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4270248"/>
            <a:ext cx="5303520" cy="804672"/>
          </a:xfrm>
          <a:prstGeom prst="rect">
            <a:avLst/>
          </a:prstGeom>
          <a:solidFill>
            <a:srgbClr val="08143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A9"/>
                </a:solidFill>
                <a:latin typeface="Calibri"/>
              </a:rPr>
              <a:t>GitHub Pages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725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  <a:latin typeface="Calibri"/>
              </a:rPr>
              <a:t>Zero-cost frontend hosting for the ASHA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5138928"/>
            <a:ext cx="5303520" cy="804672"/>
          </a:xfrm>
          <a:prstGeom prst="rect">
            <a:avLst/>
          </a:prstGeom>
          <a:solidFill>
            <a:srgbClr val="08143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2120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A9"/>
                </a:solidFill>
                <a:latin typeface="Calibri"/>
              </a:rPr>
              <a:t>Python 3.11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541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  <a:latin typeface="Calibri"/>
              </a:rPr>
              <a:t>Runtime for all services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6007608"/>
            <a:ext cx="5303520" cy="804672"/>
          </a:xfrm>
          <a:prstGeom prst="rect">
            <a:avLst/>
          </a:prstGeom>
          <a:solidFill>
            <a:srgbClr val="081430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6080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A9"/>
                </a:solidFill>
                <a:latin typeface="Calibri"/>
              </a:rPr>
              <a:t>Docker / Cloud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64099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3"/>
                </a:solidFill>
                <a:latin typeface="Calibri"/>
              </a:rPr>
              <a:t>Containerization and CI/CD on GCP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Pay-as-you-go — designed for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rgbClr val="132A56"/>
          </a:solidFill>
          <a:ln w="254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☁️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8A9"/>
                </a:solidFill>
                <a:latin typeface="Calibri"/>
              </a:rPr>
              <a:t>Cloud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~$0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BC5C3"/>
                </a:solidFill>
                <a:latin typeface="Calibri"/>
              </a:rPr>
              <a:t>at prototype scale
(pay per request)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651760" cy="2926080"/>
          </a:xfrm>
          <a:prstGeom prst="rect">
            <a:avLst/>
          </a:prstGeom>
          <a:solidFill>
            <a:srgbClr val="132A56"/>
          </a:solidFill>
          <a:ln w="254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80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CC"/>
                </a:solidFill>
                <a:latin typeface="Calibri"/>
              </a:rPr>
              <a:t>Vertex AI 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~$0.001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260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BC5C3"/>
                </a:solidFill>
                <a:latin typeface="Calibri"/>
              </a:rPr>
              <a:t>per message generated
(gemini-2.0-flash)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651760" cy="2926080"/>
          </a:xfrm>
          <a:prstGeom prst="rect">
            <a:avLst/>
          </a:prstGeom>
          <a:solidFill>
            <a:srgbClr val="132A56"/>
          </a:solidFill>
          <a:ln w="2540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244"/>
                </a:solidFill>
                <a:latin typeface="Calibri"/>
              </a:rPr>
              <a:t>GitHub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260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BC5C3"/>
                </a:solidFill>
                <a:latin typeface="Calibri"/>
              </a:rPr>
              <a:t>completely free
static hosting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188720"/>
            <a:ext cx="2651760" cy="2926080"/>
          </a:xfrm>
          <a:prstGeom prst="rect">
            <a:avLst/>
          </a:prstGeom>
          <a:solidFill>
            <a:srgbClr val="132A56"/>
          </a:solidFill>
          <a:ln w="25400">
            <a:solidFill>
              <a:srgbClr val="9BC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2801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Calibri"/>
              </a:rPr>
              <a:t>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7451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BC5C3"/>
                </a:solidFill>
                <a:latin typeface="Calibri"/>
              </a:rPr>
              <a:t>Cloud Storage /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~$0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9260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BC5C3"/>
                </a:solidFill>
                <a:latin typeface="Calibri"/>
              </a:rPr>
              <a:t>file-based model
at prototype stage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11247120" cy="1325880"/>
          </a:xfrm>
          <a:prstGeom prst="rect">
            <a:avLst/>
          </a:prstGeom>
          <a:solidFill>
            <a:srgbClr val="081430"/>
          </a:solidFill>
          <a:ln w="2540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4622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44"/>
                </a:solidFill>
                <a:latin typeface="Calibri"/>
              </a:rPr>
              <a:t>📈  Scale Cost Projection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1,000 ASHA workers × ~50 messages/month = 50,000 Gemini calls → ~$50/month</a:t>
            </a:r>
          </a:p>
          <a:p>
            <a:pPr algn="l"/>
            <a:r>
              <a:rPr sz="1200" b="0">
                <a:solidFill>
                  <a:srgbClr val="9BC5C3"/>
                </a:solidFill>
                <a:latin typeface="Calibri"/>
              </a:rPr>
              <a:t>Cloud Run auto-scales; cost is proportional to usage. Zero idle cost.</a:t>
            </a:r>
          </a:p>
          <a:p>
            <a:pPr algn="l"/>
            <a:r>
              <a:rPr sz="1200" b="0">
                <a:solidFill>
                  <a:srgbClr val="E8F4F3"/>
                </a:solidFill>
                <a:latin typeface="Calibri"/>
              </a:rPr>
              <a:t>Full production deployment (10,000 workers): estimated under $500/month.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MVP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Live prototype at mrmallick07.github.io/AnchalAI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pic>
        <p:nvPicPr>
          <p:cNvPr id="7" name="Picture 6" descr="anchalai_dashboard_1773865944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669280" cy="2423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35570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BC5C3"/>
                </a:solidFill>
                <a:latin typeface="Calibri"/>
              </a:rPr>
              <a:t>Main Dashboard — Risk Statistics</a:t>
            </a:r>
          </a:p>
        </p:txBody>
      </p:sp>
      <p:pic>
        <p:nvPicPr>
          <p:cNvPr id="9" name="Picture 8" descr="anchalai_outreach_list_17738659545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669280" cy="2423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55701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BC5C3"/>
                </a:solidFill>
                <a:latin typeface="Calibri"/>
              </a:rPr>
              <a:t>Priority Outreach List — Ranked by Risk %</a:t>
            </a:r>
          </a:p>
        </p:txBody>
      </p:sp>
      <p:pic>
        <p:nvPicPr>
          <p:cNvPr id="11" name="Picture 10" descr="anchalai_modal_bengali_17738659931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49039"/>
            <a:ext cx="365760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611733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BC5C3"/>
                </a:solidFill>
                <a:latin typeface="Calibri"/>
              </a:rPr>
              <a:t>Gemini Modal — Bengali Message</a:t>
            </a:r>
          </a:p>
        </p:txBody>
      </p:sp>
      <p:pic>
        <p:nvPicPr>
          <p:cNvPr id="13" name="Picture 12" descr="anchalai_modal_english_17738660199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3749039"/>
            <a:ext cx="3657600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0520" y="611733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BC5C3"/>
                </a:solidFill>
                <a:latin typeface="Calibri"/>
              </a:rPr>
              <a:t>Gemini Modal — English Message</a:t>
            </a:r>
          </a:p>
        </p:txBody>
      </p:sp>
      <p:pic>
        <p:nvPicPr>
          <p:cNvPr id="15" name="Picture 14" descr="anchalai_filtered_high_risk_17738660913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3749039"/>
            <a:ext cx="3840480" cy="23317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01000" y="611733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BC5C3"/>
                </a:solidFill>
                <a:latin typeface="Calibri"/>
              </a:rPr>
              <a:t>Filtered: High Risk Only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Future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Scaling AnchalAI for national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669280" cy="2423160"/>
          </a:xfrm>
          <a:prstGeom prst="rect">
            <a:avLst/>
          </a:prstGeom>
          <a:solidFill>
            <a:srgbClr val="132A56"/>
          </a:solidFill>
          <a:ln w="254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8A9"/>
                </a:solidFill>
                <a:latin typeface="Calibri"/>
              </a:rPr>
              <a:t>Phase 1 —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Integration with NHM RCH Portal API for live patient data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Replace mock data with real-time hospital feeds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Automated nightly risk score refresh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5669280" cy="2423160"/>
          </a:xfrm>
          <a:prstGeom prst="rect">
            <a:avLst/>
          </a:prstGeom>
          <a:solidFill>
            <a:srgbClr val="132A56"/>
          </a:solidFill>
          <a:ln w="2540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3444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244"/>
                </a:solidFill>
                <a:latin typeface="Calibri"/>
              </a:rPr>
              <a:t>Phase 2 — Offline &amp; 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Offline Android app for low-connectivity rural areas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Local SQLite storage with background sync when online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Progressive Web App (PWA) support for feature phones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669280" cy="2423160"/>
          </a:xfrm>
          <a:prstGeom prst="rect">
            <a:avLst/>
          </a:prstGeom>
          <a:solidFill>
            <a:srgbClr val="132A56"/>
          </a:solidFill>
          <a:ln w="254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CC"/>
                </a:solidFill>
                <a:latin typeface="Calibri"/>
              </a:rPr>
              <a:t>Phase 3 — Disease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TB adherence monitoring and dropout prediction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Child immunization schedule dropout detection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Nutrition program follow-up coordination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94760"/>
            <a:ext cx="5669280" cy="2423160"/>
          </a:xfrm>
          <a:prstGeom prst="rect">
            <a:avLst/>
          </a:prstGeom>
          <a:solidFill>
            <a:srgbClr val="132A56"/>
          </a:solidFill>
          <a:ln w="25400">
            <a:solidFill>
              <a:srgbClr val="FF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E4E"/>
                </a:solidFill>
                <a:latin typeface="Calibri"/>
              </a:rPr>
              <a:t>Phase 4 —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AlloyDB for real outcome data storage and training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WhatsApp Business API for direct ASHA-to-patient outreach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National NHM dashboard for district health officers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• Federated learning for multi-state model improvement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"/>
              </a:rPr>
              <a:t>Important Links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3E"/>
                </a:solidFill>
                <a:latin typeface="Calibri"/>
              </a:rPr>
              <a:t>Connect with AnchalAI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BC5C3"/>
                </a:solidFill>
                <a:latin typeface="Calibri"/>
              </a:rPr>
              <a:t>AnchalAI | Google Solution Challenge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1115568"/>
          </a:xfrm>
          <a:prstGeom prst="rect">
            <a:avLst/>
          </a:prstGeom>
          <a:solidFill>
            <a:srgbClr val="132A56"/>
          </a:solidFill>
          <a:ln w="254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A9"/>
                </a:solidFill>
                <a:latin typeface="Calibri"/>
              </a:rPr>
              <a:t>🐙 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30759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https://github.com/mrmallick07/AnchalAI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5C3"/>
                </a:solidFill>
                <a:latin typeface="Calibri"/>
              </a:rPr>
              <a:t>Full source code — agents, ML model, Flask API, 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11247120" cy="1115568"/>
          </a:xfrm>
          <a:prstGeom prst="rect">
            <a:avLst/>
          </a:prstGeom>
          <a:solidFill>
            <a:srgbClr val="132A56"/>
          </a:solidFill>
          <a:ln w="25400">
            <a:solidFill>
              <a:srgbClr val="FFC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244"/>
                </a:solidFill>
                <a:latin typeface="Calibri"/>
              </a:rPr>
              <a:t>🌐  Live MVP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334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https://mrmallick07.github.io/AnchalAI/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5C3"/>
                </a:solidFill>
                <a:latin typeface="Calibri"/>
              </a:rPr>
              <a:t>Prototype dashboard — runs in browser, no install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11247120" cy="1115568"/>
          </a:xfrm>
          <a:prstGeom prst="rect">
            <a:avLst/>
          </a:prstGeom>
          <a:solidFill>
            <a:srgbClr val="132A56"/>
          </a:solidFill>
          <a:ln w="25400">
            <a:solidFill>
              <a:srgbClr val="00D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593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CC"/>
                </a:solidFill>
                <a:latin typeface="Calibri"/>
              </a:rPr>
              <a:t>🤖  Agent API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95935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https://anchalai-agent-961197586142.asia-south1.run.app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5C3"/>
                </a:solidFill>
                <a:latin typeface="Calibri"/>
              </a:rPr>
              <a:t>ADK multi-agent pipeline deployed on Cloud Run (asia-south1)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79"/>
            <a:ext cx="11247120" cy="1115568"/>
          </a:xfrm>
          <a:prstGeom prst="rect">
            <a:avLst/>
          </a:prstGeom>
          <a:solidFill>
            <a:srgbClr val="132A56"/>
          </a:solidFill>
          <a:ln w="25400">
            <a:solidFill>
              <a:srgbClr val="9BC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1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C5C3"/>
                </a:solidFill>
                <a:latin typeface="Calibri"/>
              </a:rPr>
              <a:t>🎬  Demo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285231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[To be added — link available at presentation]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19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BC5C3"/>
                </a:solidFill>
                <a:latin typeface="Calibri"/>
              </a:rPr>
              <a:t>Full walkthrough of ASHA workflow — risk prediction to outreach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00800"/>
            <a:ext cx="11247120" cy="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081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0B8A9"/>
                </a:solidFill>
                <a:latin typeface="Calibri"/>
              </a:rPr>
              <a:t>"Every data point is a mother. Every prediction is a life saved."  — AnchalAI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